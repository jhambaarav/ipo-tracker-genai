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Current Gain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Telecom</c:v>
                  </c:pt>
                  <c:pt idx="1">
                    <c:v>Power</c:v>
                  </c:pt>
                  <c:pt idx="2">
                    <c:v>Metals &amp; Mining</c:v>
                  </c:pt>
                  <c:pt idx="3">
                    <c:v>IT</c:v>
                  </c:pt>
                  <c:pt idx="4">
                    <c:v>Financial Svcs</c:v>
                  </c:pt>
                  <c:pt idx="5">
                    <c:v>Construction</c:v>
                  </c:pt>
                  <c:pt idx="6">
                    <c:v>Healthcare</c:v>
                  </c:pt>
                  <c:pt idx="7">
                    <c:v>Automobile</c:v>
                  </c:pt>
                  <c:pt idx="8">
                    <c:v>Services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94.83</c:v>
                </c:pt>
                <c:pt idx="1">
                  <c:v>60.97</c:v>
                </c:pt>
                <c:pt idx="2">
                  <c:v>10.34</c:v>
                </c:pt>
                <c:pt idx="3">
                  <c:v>32.71</c:v>
                </c:pt>
                <c:pt idx="4">
                  <c:v>13.86</c:v>
                </c:pt>
                <c:pt idx="5">
                  <c:v>-19.43</c:v>
                </c:pt>
                <c:pt idx="6">
                  <c:v>13.42</c:v>
                </c:pt>
                <c:pt idx="7">
                  <c:v>-16.84</c:v>
                </c:pt>
                <c:pt idx="8">
                  <c:v>-23.49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Current Gain %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B6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Most Negative Net Sentiment</c:v>
                  </c:pt>
                  <c:pt idx="1">
                    <c:v>Middle Tercile</c:v>
                  </c:pt>
                  <c:pt idx="2">
                    <c:v>Most Positive Net Sentiment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-17.65</c:v>
                </c:pt>
                <c:pt idx="1">
                  <c:v>8.74</c:v>
                </c:pt>
                <c:pt idx="2">
                  <c:v>52.19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4480560"/>
            <a:ext cx="3931920" cy="3931920"/>
          </a:xfrm>
          <a:prstGeom prst="ellipse">
            <a:avLst/>
          </a:prstGeom>
          <a:solidFill>
            <a:srgbClr val="CADCF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PROJECT   ·   INDIABULLS SECURITIES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IPO Performance Tracker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AI-Driven Sentiment Diagnostics Layer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20116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IPOs analyzed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SQL: CTEs, window functions, anti-joins, self-joins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sentiment diagnostics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Aarav  |  Intern, Indiabulls Securities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project, and what question it answers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performance tracker for 30 recent Indian IPOs (2024-2025), then test whether AI-extracted sentiment from public IPO review articles has any predictive value for actual listing and post-listing returns.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34137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81200" y="3931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5792" y="409651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80060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5166360"/>
            <a:ext cx="295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issue price, listing price, and current performance across 13 sectors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3880" y="3657600"/>
            <a:ext cx="341376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0" y="39319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409651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73880" y="480060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02480" y="5166360"/>
            <a:ext cx="295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advanced SQL: joins, CTEs, window functions, anti-joins, self-joins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07680" y="3657600"/>
            <a:ext cx="34137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48800" y="3931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392" y="409651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07680" y="480060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36280" y="5166360"/>
            <a:ext cx="295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AI sentiment scoring and validate it against real outcomes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dataset was built and structured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Chittorgarh, Moneycontrol, Business Standard, Upstox, Value Research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Listing-day and current prices via NSE GoogleFinance formulas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mainboard IPOs spanning 2024-2025, across 13 sectors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Fields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sector, issue price, issue size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date, listing close, listing gain 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price, current gain %, performance tier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64592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2331720"/>
            <a:ext cx="4892040" cy="914400"/>
          </a:xfrm>
          <a:prstGeom prst="roundRect">
            <a:avLst>
              <a:gd name="adj" fmla="val 7000"/>
            </a:avLst>
          </a:prstGeom>
          <a:solidFill>
            <a:srgbClr val="2A357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624328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9516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ipo_master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95160" y="27432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company_name, sector, issue_price, issue_size_cr, listing_date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55080" y="3383280"/>
            <a:ext cx="4892040" cy="914400"/>
          </a:xfrm>
          <a:prstGeom prst="roundRect">
            <a:avLst>
              <a:gd name="adj" fmla="val 7000"/>
            </a:avLst>
          </a:prstGeom>
          <a:solidFill>
            <a:srgbClr val="2A357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67588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9516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ipo_performance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995160" y="37947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listing_close, listing_gain_pct, current_price, current_gain_pct, performance_category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355080" y="4434840"/>
            <a:ext cx="4892040" cy="914400"/>
          </a:xfrm>
          <a:prstGeom prst="roundRect">
            <a:avLst>
              <a:gd name="adj" fmla="val 7000"/>
            </a:avLst>
          </a:prstGeom>
          <a:solidFill>
            <a:srgbClr val="2A357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72744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95160" y="4526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ipo_sentiment / ipo_net_sentiment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995160" y="48463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sentiment_label, sentiment_score, net_sentiment_score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355080" y="5623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on ipo_id, enables joins, CTEs and window functions across all three tables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applied across the IPO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482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&amp; CTEs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Sector-level outperformer detection vs sector average (alpha)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04825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892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2560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and AVG() OVER(PARTITION BY sector) for sector rankings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04825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92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Anti-Joins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2560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+ IS NULL to isolate underperforming IPOs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24281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873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Self-Joins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68680" y="4754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 of IPOs within the same sector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24281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0873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/ IF Logic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4754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tiers: Blockbuster, Strong, Moderate, Weak, Disaster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24281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0873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Multi-CTE Chains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4754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stats to ranked sectors to tagged Top/Bottom performers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Sector-Wise IPO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current gain % by sector across the 30-IPO dataset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8813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CADCFC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GenAI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LLM-based sentiment model read IPO reviews and predict returns?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2A357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public review article for each of the 30 IPOs (Chittorgarh, Moneycontrol, etc.)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2A357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154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summary with FinBERT, a finance-tuned sentiment model, to classify positive, negative, or neutral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2A357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2519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sentiment scores to actual returns in SQL and test: does sentiment predict performance?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34924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5349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 ·  ProsusAI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#1: The Naive Approach Failed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full risk-and-strength paragraphs in one pass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vs Actual Returns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36.67%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IPOs had sentiment label matching actual return direction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297680"/>
            <a:ext cx="4480560" cy="0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48056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coin flip would score ~50%.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performed worse than random chance on this dataset.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202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49440" y="193852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5080" y="26060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IPO summary, even for strong companies, legitimately mentions real risk factors.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over-weights risk vocabulary (loss, decline, concentration, dependence) and classifies almost everything negative, regardless of overall company quality.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457200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2A3570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4709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Bharti Hexacom returned +159%, yet was scored negative with 89.6% confidence, since its summary mentioned ARPU pricing pressure and regional concentration.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#2: Decomposing Strengths from Risks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strength and risk sentences independently, then netting the signed scores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116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 Sentence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414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independently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59352" y="210312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0116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Sentence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24414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independently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62672" y="210312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20116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Signed Score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24414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minus risk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5120640" cy="2697480"/>
          </a:xfrm>
          <a:prstGeom prst="roundRect">
            <a:avLst>
              <a:gd name="adj" fmla="val 3390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36.67%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Single-paragraph scoring, worse than random chance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3337560"/>
            <a:ext cx="5486400" cy="2697480"/>
          </a:xfrm>
          <a:prstGeom prst="roundRect">
            <a:avLst>
              <a:gd name="adj" fmla="val 3390"/>
            </a:avLst>
          </a:prstGeom>
          <a:solidFill>
            <a:srgbClr val="E8F6E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8404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FA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56.67%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6309360" y="48920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Strength/risk decomposition, a +20 point improvement, beating chance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Hidden in Confidence Scores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actual return by net sentiment score tercile (improved model)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691640"/>
          <a:ext cx="10332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589788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589788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monotonic relationship: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positive the net sentiment, the higher the actual return, a usable signal once strengths and risks are separated.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current gain across all 30 IPOs varies sharply by sector. Telecom and Power led, Services and Automobile lagged.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5856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FinBERT sentiment, applied naively, performed worse than random chance (36.67%) at predicting return direction.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099816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Risk-disclosure language present in virtually all IPO reviews systematically skews general-purpose sentiment models negative.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40142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941064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strength and risk language before scoring lifted prediction accuracy to 56.67%, a 20-point improvement.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48554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78231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sentiment score, not the raw label, shows a clean, monotonic relationship with actual returns across confidence terciles.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 of 30 companies; terciles of 10 are sensitive to a few outliers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base model (FinBERT) tested so far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and risk sentences were manually written, not auto-extracted from full prospectuses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56.67% accuracy is promising but not yet production-grade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8076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355080" y="22860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 Risk Factor sections directly from DRHP/RHP filings via SEBI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FinBERT against a general-purpose model and a custom fine-tuned classifier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sample to 100+ IPOs as the 2025-26 listing season progresses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SQL framework to the Momentum Strategy and Pairs Trading projects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CADCFC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8680" y="3246120"/>
            <a:ext cx="20116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 |  Intern, Indiabulls Securities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IPO Performance Tracker &amp; AI Sentiment Analysis</dc:title>
  <dc:subject>PptxGenJS Presentation</dc:subject>
  <dc:creator>Aarav</dc:creator>
  <cp:lastModifiedBy>Aarav</cp:lastModifiedBy>
  <cp:revision>1</cp:revision>
  <dcterms:created xsi:type="dcterms:W3CDTF">2026-06-16T19:52:25Z</dcterms:created>
  <dcterms:modified xsi:type="dcterms:W3CDTF">2026-06-16T19:52:25Z</dcterms:modified>
</cp:coreProperties>
</file>